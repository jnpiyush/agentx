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EA5E9"/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" y="2194560"/>
            <a:ext cx="1280160" cy="1280160"/>
          </a:xfrm>
          <a:prstGeom prst="ellipse">
            <a:avLst/>
          </a:prstGeom>
          <a:solidFill>
            <a:srgbClr val="0EA5E9"/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128016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7200" b="1">
                <a:solidFill>
                  <a:srgbClr val="0B1F3A"/>
                </a:solidFill>
                <a:latin typeface="Segoe UI"/>
              </a:rPr>
              <a:t>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97480" y="2240280"/>
            <a:ext cx="82296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200" b="1">
                <a:solidFill>
                  <a:srgbClr val="F8FAFC"/>
                </a:solidFill>
                <a:latin typeface="Segoe UI"/>
              </a:rPr>
              <a:t>AgentX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32461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>
                <a:solidFill>
                  <a:srgbClr val="0EA5E9"/>
                </a:solidFill>
                <a:latin typeface="Segoe UI"/>
              </a:rPr>
              <a:t>Digital Force for Software Delivery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3794760"/>
            <a:ext cx="91440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Segoe UI"/>
              </a:rPr>
              <a:t>Turn AI coding agents into a structured engineering team</a:t>
            </a:r>
          </a:p>
          <a:p>
            <a:pPr algn="l"/>
            <a:r>
              <a:rPr sz="1600" b="0">
                <a:solidFill>
                  <a:srgbClr val="94A3B8"/>
                </a:solidFill>
                <a:latin typeface="Segoe UI"/>
              </a:rPr>
              <a:t>with routing, skills, memory, and multi-model deliberation.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603504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v8.4.47  -  Apache 2.0  -  github.com/jnPiyush/AgentX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0EA5E9"/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Segoe UI"/>
              </a:rPr>
              <a:t>Zero-shot AI coding does not scale to real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10607040" cy="9525"/>
          </a:xfrm>
          <a:prstGeom prst="rect">
            <a:avLst/>
          </a:prstGeom>
          <a:solidFill>
            <a:srgbClr val="334E7A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2606040" cy="237744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260604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F59E0B"/>
                </a:solidFill>
                <a:latin typeface="Segoe UI"/>
              </a:rPr>
              <a:t>87%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46120"/>
            <a:ext cx="22402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F8FAFC"/>
                </a:solidFill>
                <a:latin typeface="Segoe UI"/>
              </a:rPr>
              <a:t>of AI-generated code</a:t>
            </a:r>
          </a:p>
          <a:p>
            <a:pPr algn="ctr"/>
            <a:r>
              <a:rPr sz="1400" b="0">
                <a:solidFill>
                  <a:srgbClr val="F8FAFC"/>
                </a:solidFill>
                <a:latin typeface="Segoe UI"/>
              </a:rPr>
              <a:t>needs rework before merge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920240"/>
            <a:ext cx="2606040" cy="237744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240280"/>
            <a:ext cx="260604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F43F5E"/>
                </a:solidFill>
                <a:latin typeface="Segoe UI"/>
              </a:rPr>
              <a:t>1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246120"/>
            <a:ext cx="22402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F8FAFC"/>
                </a:solidFill>
                <a:latin typeface="Segoe UI"/>
              </a:rPr>
              <a:t>single point of reasoning,</a:t>
            </a:r>
          </a:p>
          <a:p>
            <a:pPr algn="ctr"/>
            <a:r>
              <a:rPr sz="1400" b="0">
                <a:solidFill>
                  <a:srgbClr val="F8FAFC"/>
                </a:solidFill>
                <a:latin typeface="Segoe UI"/>
              </a:rPr>
              <a:t>single blind spot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1920240"/>
            <a:ext cx="2606040" cy="237744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240280"/>
            <a:ext cx="260604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0EA5E9"/>
                </a:solidFill>
                <a:latin typeface="Segoe UI"/>
              </a:rPr>
              <a:t>0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246120"/>
            <a:ext cx="22402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F8FAFC"/>
                </a:solidFill>
                <a:latin typeface="Segoe UI"/>
              </a:rPr>
              <a:t>no decisions retained</a:t>
            </a:r>
          </a:p>
          <a:p>
            <a:pPr algn="ctr"/>
            <a:r>
              <a:rPr sz="1400" b="0">
                <a:solidFill>
                  <a:srgbClr val="F8FAFC"/>
                </a:solidFill>
                <a:latin typeface="Segoe UI"/>
              </a:rPr>
              <a:t>across sessions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81160" y="1920240"/>
            <a:ext cx="2606040" cy="237744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2240280"/>
            <a:ext cx="260604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22C55E"/>
                </a:solidFill>
                <a:latin typeface="Segoe UI"/>
              </a:rPr>
              <a:t>No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3246120"/>
            <a:ext cx="22402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F8FAFC"/>
                </a:solidFill>
                <a:latin typeface="Segoe UI"/>
              </a:rPr>
              <a:t>ships unreviewed,</a:t>
            </a:r>
          </a:p>
          <a:p>
            <a:pPr algn="ctr"/>
            <a:r>
              <a:rPr sz="1400" b="0">
                <a:solidFill>
                  <a:srgbClr val="F8FAFC"/>
                </a:solidFill>
                <a:latin typeface="Segoe UI"/>
              </a:rPr>
              <a:t>untested, untraceable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72000"/>
            <a:ext cx="1060704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0">
                <a:solidFill>
                  <a:srgbClr val="94A3B8"/>
                </a:solidFill>
                <a:latin typeface="Segoe UI"/>
              </a:rPr>
              <a:t>Teams ship AI slop, then spend weeks cleaning it up.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02 / 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AgentX  -  Digital Force for Software Delivery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0EA5E9"/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Segoe UI"/>
              </a:rPr>
              <a:t>THE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Segoe UI"/>
              </a:rPr>
              <a:t>AgentX is a harness, not a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10607040" cy="9525"/>
          </a:xfrm>
          <a:prstGeom prst="rect">
            <a:avLst/>
          </a:prstGeom>
          <a:solidFill>
            <a:srgbClr val="334E7A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Segoe UI"/>
              </a:rPr>
              <a:t>Force AI to plan, execute, iterate, review, and validate -- like a real team.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43200"/>
            <a:ext cx="2606040" cy="310896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743200"/>
            <a:ext cx="2606040" cy="109728"/>
          </a:xfrm>
          <a:prstGeom prst="rect">
            <a:avLst/>
          </a:prstGeom>
          <a:solidFill>
            <a:srgbClr val="0EA5E9"/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108960"/>
            <a:ext cx="26060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800" b="1">
                <a:solidFill>
                  <a:srgbClr val="0EA5E9"/>
                </a:solidFill>
                <a:latin typeface="Segoe UI"/>
              </a:rPr>
              <a:t>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23360"/>
            <a:ext cx="2606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Segoe UI"/>
              </a:rPr>
              <a:t>Specialist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526280"/>
            <a:ext cx="214884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Segoe UI"/>
              </a:rPr>
              <a:t>PM, Architect, UX,</a:t>
            </a:r>
          </a:p>
          <a:p>
            <a:pPr algn="ctr"/>
            <a:r>
              <a:rPr sz="1200" b="0">
                <a:solidFill>
                  <a:srgbClr val="94A3B8"/>
                </a:solidFill>
                <a:latin typeface="Segoe UI"/>
              </a:rPr>
              <a:t>Engineer, Reviewer,</a:t>
            </a:r>
          </a:p>
          <a:p>
            <a:pPr algn="ctr"/>
            <a:r>
              <a:rPr sz="1200" b="0">
                <a:solidFill>
                  <a:srgbClr val="94A3B8"/>
                </a:solidFill>
                <a:latin typeface="Segoe UI"/>
              </a:rPr>
              <a:t>Tester, DevOps...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2743200"/>
            <a:ext cx="2606040" cy="310896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11880" y="2743200"/>
            <a:ext cx="2606040" cy="109728"/>
          </a:xfrm>
          <a:prstGeom prst="rect">
            <a:avLst/>
          </a:prstGeom>
          <a:solidFill>
            <a:srgbClr val="22C55E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3108960"/>
            <a:ext cx="26060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800" b="1">
                <a:solidFill>
                  <a:srgbClr val="22C55E"/>
                </a:solidFill>
                <a:latin typeface="Segoe UI"/>
              </a:rPr>
              <a:t>94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4023360"/>
            <a:ext cx="2606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Segoe UI"/>
              </a:rPr>
              <a:t>Production Skills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526280"/>
            <a:ext cx="214884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Segoe UI"/>
              </a:rPr>
              <a:t>Retrieval-led patterns</a:t>
            </a:r>
          </a:p>
          <a:p>
            <a:pPr algn="ctr"/>
            <a:r>
              <a:rPr sz="1200" b="0">
                <a:solidFill>
                  <a:srgbClr val="94A3B8"/>
                </a:solidFill>
                <a:latin typeface="Segoe UI"/>
              </a:rPr>
              <a:t>loaded on demand,</a:t>
            </a:r>
          </a:p>
          <a:p>
            <a:pPr algn="ctr"/>
            <a:r>
              <a:rPr sz="1200" b="0">
                <a:solidFill>
                  <a:srgbClr val="94A3B8"/>
                </a:solidFill>
                <a:latin typeface="Segoe UI"/>
              </a:rPr>
              <a:t>not from model memory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2743200"/>
            <a:ext cx="2606040" cy="310896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6520" y="2743200"/>
            <a:ext cx="2606040" cy="109728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108960"/>
            <a:ext cx="26060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800" b="1">
                <a:solidFill>
                  <a:srgbClr val="F59E0B"/>
                </a:solidFill>
                <a:latin typeface="Segoe UI"/>
              </a:rPr>
              <a:t>3+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023360"/>
            <a:ext cx="2606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Segoe UI"/>
              </a:rPr>
              <a:t>Model Council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526280"/>
            <a:ext cx="214884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Segoe UI"/>
              </a:rPr>
              <a:t>Diverse models debate</a:t>
            </a:r>
          </a:p>
          <a:p>
            <a:pPr algn="ctr"/>
            <a:r>
              <a:rPr sz="1200" b="0">
                <a:solidFill>
                  <a:srgbClr val="94A3B8"/>
                </a:solidFill>
                <a:latin typeface="Segoe UI"/>
              </a:rPr>
              <a:t>high-stakes decisions</a:t>
            </a:r>
          </a:p>
          <a:p>
            <a:pPr algn="ctr"/>
            <a:r>
              <a:rPr sz="1200" b="0">
                <a:solidFill>
                  <a:srgbClr val="94A3B8"/>
                </a:solidFill>
                <a:latin typeface="Segoe UI"/>
              </a:rPr>
              <a:t>before they ship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2743200"/>
            <a:ext cx="2606040" cy="310896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81160" y="2743200"/>
            <a:ext cx="2606040" cy="109728"/>
          </a:xfrm>
          <a:prstGeom prst="rect">
            <a:avLst/>
          </a:prstGeom>
          <a:solidFill>
            <a:srgbClr val="F43F5E"/>
          </a:solidFill>
          <a:ln w="952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60" y="3108960"/>
            <a:ext cx="26060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800" b="1">
                <a:solidFill>
                  <a:srgbClr val="F43F5E"/>
                </a:solidFill>
                <a:latin typeface="Segoe UI"/>
              </a:rPr>
              <a:t>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4023360"/>
            <a:ext cx="2606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Segoe UI"/>
              </a:rPr>
              <a:t>Compound Memory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4526280"/>
            <a:ext cx="214884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Segoe UI"/>
              </a:rPr>
              <a:t>Decisions, learnings,</a:t>
            </a:r>
          </a:p>
          <a:p>
            <a:pPr algn="ctr"/>
            <a:r>
              <a:rPr sz="1200" b="0">
                <a:solidFill>
                  <a:srgbClr val="94A3B8"/>
                </a:solidFill>
                <a:latin typeface="Segoe UI"/>
              </a:rPr>
              <a:t>conventions persist</a:t>
            </a:r>
          </a:p>
          <a:p>
            <a:pPr algn="ctr"/>
            <a:r>
              <a:rPr sz="1200" b="0">
                <a:solidFill>
                  <a:srgbClr val="94A3B8"/>
                </a:solidFill>
                <a:latin typeface="Segoe UI"/>
              </a:rPr>
              <a:t>in the repo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03 / 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AgentX  -  Digital Force for Software Delivery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0EA5E9"/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Segoe UI"/>
              </a:rPr>
              <a:t>THE AI DEVELOPMENT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Segoe UI"/>
              </a:rPr>
              <a:t>21 specialists routed by Agent X (the hub)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10607040" cy="9525"/>
          </a:xfrm>
          <a:prstGeom prst="rect">
            <a:avLst/>
          </a:prstGeom>
          <a:solidFill>
            <a:srgbClr val="334E7A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998567" y="1920240"/>
            <a:ext cx="2194560" cy="822960"/>
          </a:xfrm>
          <a:prstGeom prst="roundRect">
            <a:avLst/>
          </a:prstGeom>
          <a:solidFill>
            <a:srgbClr val="0EA5E9"/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98567" y="1920240"/>
            <a:ext cx="21945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0B1F3A"/>
                </a:solidFill>
                <a:latin typeface="Segoe UI"/>
              </a:rPr>
              <a:t>Agent X (Hub)</a:t>
            </a:r>
          </a:p>
        </p:txBody>
      </p:sp>
      <p:sp>
        <p:nvSpPr>
          <p:cNvPr id="9" name="Rectangle 8"/>
          <p:cNvSpPr/>
          <p:nvPr/>
        </p:nvSpPr>
        <p:spPr>
          <a:xfrm>
            <a:off x="1427907" y="2743200"/>
            <a:ext cx="9000" cy="1005839"/>
          </a:xfrm>
          <a:prstGeom prst="rect">
            <a:avLst/>
          </a:prstGeom>
          <a:solidFill>
            <a:srgbClr val="334E7A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7987" y="3749039"/>
            <a:ext cx="2148840" cy="155448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7987" y="3749039"/>
            <a:ext cx="2148840" cy="91440"/>
          </a:xfrm>
          <a:prstGeom prst="rect">
            <a:avLst/>
          </a:prstGeom>
          <a:solidFill>
            <a:srgbClr val="22C55E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987" y="3977639"/>
            <a:ext cx="2148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22C55E"/>
                </a:solidFill>
                <a:latin typeface="Segoe UI"/>
              </a:rPr>
              <a:t>Product &amp;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147" y="4434839"/>
            <a:ext cx="18745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Segoe UI"/>
              </a:rPr>
              <a:t>PM  -  UX Designer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59627" y="2743200"/>
            <a:ext cx="9000" cy="1005839"/>
          </a:xfrm>
          <a:prstGeom prst="rect">
            <a:avLst/>
          </a:prstGeom>
          <a:solidFill>
            <a:srgbClr val="334E7A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689707" y="3749039"/>
            <a:ext cx="2148840" cy="155448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89707" y="3749039"/>
            <a:ext cx="2148840" cy="91440"/>
          </a:xfrm>
          <a:prstGeom prst="rect">
            <a:avLst/>
          </a:prstGeom>
          <a:solidFill>
            <a:srgbClr val="0EA5E9"/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89707" y="3977639"/>
            <a:ext cx="2148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0EA5E9"/>
                </a:solidFill>
                <a:latin typeface="Segoe UI"/>
              </a:rPr>
              <a:t>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26867" y="4434839"/>
            <a:ext cx="18745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Segoe UI"/>
              </a:rPr>
              <a:t>Architect  -  Data Scientist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1347" y="2743200"/>
            <a:ext cx="9000" cy="1005839"/>
          </a:xfrm>
          <a:prstGeom prst="rect">
            <a:avLst/>
          </a:prstGeom>
          <a:solidFill>
            <a:srgbClr val="334E7A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1427" y="3749039"/>
            <a:ext cx="2148840" cy="155448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1427" y="3749039"/>
            <a:ext cx="2148840" cy="91440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1427" y="3977639"/>
            <a:ext cx="2148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Segoe UI"/>
              </a:rPr>
              <a:t>Engineering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8587" y="4434839"/>
            <a:ext cx="18745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Segoe UI"/>
              </a:rPr>
              <a:t>Engineer  -  DevOps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23067" y="2743200"/>
            <a:ext cx="9000" cy="1005839"/>
          </a:xfrm>
          <a:prstGeom prst="rect">
            <a:avLst/>
          </a:prstGeom>
          <a:solidFill>
            <a:srgbClr val="334E7A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53147" y="3749039"/>
            <a:ext cx="2148840" cy="155448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53147" y="3749039"/>
            <a:ext cx="2148840" cy="91440"/>
          </a:xfrm>
          <a:prstGeom prst="rect">
            <a:avLst/>
          </a:prstGeom>
          <a:solidFill>
            <a:srgbClr val="F43F5E"/>
          </a:solidFill>
          <a:ln w="952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53147" y="3977639"/>
            <a:ext cx="2148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43F5E"/>
                </a:solidFill>
                <a:latin typeface="Segoe UI"/>
              </a:rPr>
              <a:t>Quality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307" y="4434839"/>
            <a:ext cx="18745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Segoe UI"/>
              </a:rPr>
              <a:t>Reviewer  -  Tester  -  Auto-Fix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754787" y="2743200"/>
            <a:ext cx="9000" cy="1005839"/>
          </a:xfrm>
          <a:prstGeom prst="rect">
            <a:avLst/>
          </a:prstGeom>
          <a:solidFill>
            <a:srgbClr val="334E7A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84867" y="3749039"/>
            <a:ext cx="2148840" cy="155448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84867" y="3749039"/>
            <a:ext cx="2148840" cy="91440"/>
          </a:xfrm>
          <a:prstGeom prst="rect">
            <a:avLst/>
          </a:prstGeom>
          <a:solidFill>
            <a:srgbClr val="22C55E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84867" y="3977639"/>
            <a:ext cx="2148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22C55E"/>
                </a:solidFill>
                <a:latin typeface="Segoe UI"/>
              </a:rPr>
              <a:t>Analytics &amp; Gov.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2027" y="4434839"/>
            <a:ext cx="18745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Segoe UI"/>
              </a:rPr>
              <a:t>Power BI  -  Research  -  Coach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66928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Segoe UI"/>
              </a:rPr>
              <a:t>Each agent has a strict role contract: deliverable, gates, self-review.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04 / 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AgentX  -  Digital Force for Software Delivery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0EA5E9"/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Segoe UI"/>
              </a:rPr>
              <a:t>THE AGENTIC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Segoe UI"/>
              </a:rPr>
              <a:t>Generate -&gt; Verify -&gt; Self-Review -&gt; Done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10607040" cy="9525"/>
          </a:xfrm>
          <a:prstGeom prst="rect">
            <a:avLst/>
          </a:prstGeom>
          <a:solidFill>
            <a:srgbClr val="334E7A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9467" y="2377440"/>
            <a:ext cx="2286000" cy="1371600"/>
          </a:xfrm>
          <a:prstGeom prst="roundRect">
            <a:avLst/>
          </a:prstGeom>
          <a:solidFill>
            <a:srgbClr val="102A4F"/>
          </a:solidFill>
          <a:ln w="1905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9467" y="256032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EA5E9"/>
                </a:solidFill>
                <a:latin typeface="Segoe UI"/>
              </a:rPr>
              <a:t>Generate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467" y="3063240"/>
            <a:ext cx="22860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Segoe UI"/>
              </a:rPr>
              <a:t>Write code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Segoe UI"/>
              </a:rPr>
              <a:t>against criteria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05467" y="2880360"/>
            <a:ext cx="402920" cy="365760"/>
          </a:xfrm>
          <a:prstGeom prst="rightArrow">
            <a:avLst/>
          </a:prstGeom>
          <a:solidFill>
            <a:srgbClr val="0EA5E9"/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58387" y="2377440"/>
            <a:ext cx="2286000" cy="1371600"/>
          </a:xfrm>
          <a:prstGeom prst="roundRect">
            <a:avLst/>
          </a:prstGeom>
          <a:solidFill>
            <a:srgbClr val="102A4F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8387" y="256032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2C55E"/>
                </a:solidFill>
                <a:latin typeface="Segoe UI"/>
              </a:rPr>
              <a:t>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8387" y="3063240"/>
            <a:ext cx="22860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Segoe UI"/>
              </a:rPr>
              <a:t>Run tests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Segoe UI"/>
              </a:rPr>
              <a:t>and lint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94387" y="2880360"/>
            <a:ext cx="402920" cy="365760"/>
          </a:xfrm>
          <a:prstGeom prst="rightArrow">
            <a:avLst/>
          </a:prstGeom>
          <a:solidFill>
            <a:srgbClr val="0EA5E9"/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47307" y="2377440"/>
            <a:ext cx="2286000" cy="1371600"/>
          </a:xfrm>
          <a:prstGeom prst="roundRect">
            <a:avLst/>
          </a:prstGeom>
          <a:solidFill>
            <a:srgbClr val="102A4F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7307" y="256032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59E0B"/>
                </a:solidFill>
                <a:latin typeface="Segoe UI"/>
              </a:rPr>
              <a:t>Self-Review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3063240"/>
            <a:ext cx="22860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Segoe UI"/>
              </a:rPr>
              <a:t>Structured findings: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Segoe UI"/>
              </a:rPr>
              <a:t>HIGH/MED/LOW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683307" y="2880360"/>
            <a:ext cx="402920" cy="365760"/>
          </a:xfrm>
          <a:prstGeom prst="rightArrow">
            <a:avLst/>
          </a:prstGeom>
          <a:solidFill>
            <a:srgbClr val="0EA5E9"/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36227" y="2377440"/>
            <a:ext cx="2286000" cy="1371600"/>
          </a:xfrm>
          <a:prstGeom prst="roundRect">
            <a:avLst/>
          </a:prstGeom>
          <a:solidFill>
            <a:srgbClr val="102A4F"/>
          </a:solidFill>
          <a:ln w="1905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36227" y="256032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43F5E"/>
                </a:solidFill>
                <a:latin typeface="Segoe UI"/>
              </a:rPr>
              <a:t>Done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6227" y="3063240"/>
            <a:ext cx="22860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Segoe UI"/>
              </a:rPr>
              <a:t>All gates green,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Segoe UI"/>
              </a:rPr>
              <a:t>loop complete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297680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94A3B8"/>
                </a:solidFill>
                <a:latin typeface="Segoe UI"/>
              </a:rPr>
              <a:t>if findings -&gt; Fix and Re-run  (min 5 iterations enforced by CLI)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5187" y="5120640"/>
            <a:ext cx="2468880" cy="91440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5187" y="5166360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2C55E"/>
                </a:solidFill>
                <a:latin typeface="Segoe UI"/>
              </a:rPr>
              <a:t>80%+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187" y="562356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Segoe UI"/>
              </a:rPr>
              <a:t>coverage gate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12667" y="5120640"/>
            <a:ext cx="2468880" cy="91440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12667" y="5166360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2C55E"/>
                </a:solidFill>
                <a:latin typeface="Segoe U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12667" y="562356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Segoe UI"/>
              </a:rPr>
              <a:t>min iterations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0147" y="5120640"/>
            <a:ext cx="2468880" cy="91440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0147" y="5166360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2C55E"/>
                </a:solidFill>
                <a:latin typeface="Segoe UI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0147" y="562356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Segoe UI"/>
              </a:rPr>
              <a:t>blocked secrets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07627" y="5120640"/>
            <a:ext cx="2468880" cy="91440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07627" y="5166360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2C55E"/>
                </a:solidFill>
                <a:latin typeface="Segoe UI"/>
              </a:rPr>
              <a:t>100%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07627" y="562356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Segoe UI"/>
              </a:rPr>
              <a:t>evidence-backed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05 / 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AgentX  -  Digital Force for Software Delivery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0EA5E9"/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Segoe UI"/>
              </a:rPr>
              <a:t>MODEL COUNCIL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Segoe UI"/>
              </a:rPr>
              <a:t>Stress-test the decision, not just the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10607040" cy="9525"/>
          </a:xfrm>
          <a:prstGeom prst="rect">
            <a:avLst/>
          </a:prstGeom>
          <a:solidFill>
            <a:srgbClr val="334E7A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907127" y="3611880"/>
            <a:ext cx="2377440" cy="822960"/>
          </a:xfrm>
          <a:prstGeom prst="roundRect">
            <a:avLst/>
          </a:prstGeom>
          <a:solidFill>
            <a:srgbClr val="0B1F3A"/>
          </a:solidFill>
          <a:ln w="254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07127" y="3611880"/>
            <a:ext cx="237744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0EA5E9"/>
                </a:solidFill>
                <a:latin typeface="Segoe UI"/>
              </a:rPr>
              <a:t>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63927" y="1371600"/>
            <a:ext cx="2377440" cy="1280160"/>
          </a:xfrm>
          <a:prstGeom prst="roundRect">
            <a:avLst/>
          </a:prstGeom>
          <a:solidFill>
            <a:srgbClr val="102A4F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63927" y="155448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2C55E"/>
                </a:solidFill>
                <a:latin typeface="Segoe UI"/>
              </a:rPr>
              <a:t>Analyst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3927" y="2057400"/>
            <a:ext cx="23774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Segoe UI"/>
              </a:rPr>
              <a:t>Decompose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Segoe UI"/>
              </a:rPr>
              <a:t>evidence + facts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48147" y="2011680"/>
            <a:ext cx="9000" cy="2011680"/>
          </a:xfrm>
          <a:prstGeom prst="rect">
            <a:avLst/>
          </a:prstGeom>
          <a:solidFill>
            <a:srgbClr val="334E7A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650327" y="1371600"/>
            <a:ext cx="2377440" cy="1280160"/>
          </a:xfrm>
          <a:prstGeom prst="roundRect">
            <a:avLst/>
          </a:prstGeom>
          <a:solidFill>
            <a:srgbClr val="102A4F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50327" y="155448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59E0B"/>
                </a:solidFill>
                <a:latin typeface="Segoe UI"/>
              </a:rPr>
              <a:t>Strategist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50327" y="2057400"/>
            <a:ext cx="23774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Segoe UI"/>
              </a:rPr>
              <a:t>Frame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Segoe UI"/>
              </a:rPr>
              <a:t>second-order effects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1347" y="2011680"/>
            <a:ext cx="9000" cy="2011680"/>
          </a:xfrm>
          <a:prstGeom prst="rect">
            <a:avLst/>
          </a:prstGeom>
          <a:solidFill>
            <a:srgbClr val="334E7A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907127" y="5394960"/>
            <a:ext cx="2377440" cy="1280160"/>
          </a:xfrm>
          <a:prstGeom prst="roundRect">
            <a:avLst/>
          </a:prstGeom>
          <a:solidFill>
            <a:srgbClr val="102A4F"/>
          </a:solidFill>
          <a:ln w="1905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07127" y="557784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43F5E"/>
                </a:solidFill>
                <a:latin typeface="Segoe UI"/>
              </a:rPr>
              <a:t>Skeptic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07127" y="6080760"/>
            <a:ext cx="23774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F8FAFC"/>
                </a:solidFill>
                <a:latin typeface="Segoe UI"/>
              </a:rPr>
              <a:t>Hunt</a:t>
            </a:r>
          </a:p>
          <a:p>
            <a:pPr algn="ctr"/>
            <a:r>
              <a:rPr sz="1200" b="0">
                <a:solidFill>
                  <a:srgbClr val="F8FAFC"/>
                </a:solidFill>
                <a:latin typeface="Segoe UI"/>
              </a:rPr>
              <a:t>failure modes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1347" y="4023360"/>
            <a:ext cx="9000" cy="2011680"/>
          </a:xfrm>
          <a:prstGeom prst="rect">
            <a:avLst/>
          </a:prstGeom>
          <a:solidFill>
            <a:srgbClr val="334E7A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612648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Segoe UI"/>
              </a:rPr>
              <a:t>Triggered for: PRD scope  -  ADR options  -  AI design  -  code review  -  research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06 / 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AgentX  -  Digital Force for Software Delivery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0EA5E9"/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Segoe UI"/>
              </a:rPr>
              <a:t>WORKFLOW CHECKPOINTS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Segoe UI"/>
              </a:rPr>
              <a:t>Resolved from durable evidence, not chat history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10607040" cy="9525"/>
          </a:xfrm>
          <a:prstGeom prst="rect">
            <a:avLst/>
          </a:prstGeom>
          <a:solidFill>
            <a:srgbClr val="334E7A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3287340"/>
            <a:ext cx="10545775" cy="9000"/>
          </a:xfrm>
          <a:prstGeom prst="rect">
            <a:avLst/>
          </a:prstGeom>
          <a:solidFill>
            <a:srgbClr val="334E7A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1500" y="3040380"/>
            <a:ext cx="502920" cy="502920"/>
          </a:xfrm>
          <a:prstGeom prst="ellipse">
            <a:avLst/>
          </a:prstGeom>
          <a:solidFill>
            <a:srgbClr val="0EA5E9"/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500" y="304038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91440" y="37490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Segoe UI"/>
              </a:rPr>
              <a:t>Brainstorm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91440" y="4160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0EA5E9"/>
                </a:solidFill>
                <a:latin typeface="Segoe UI"/>
              </a:rPr>
              <a:t>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91440" y="23774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Step 1</a:t>
            </a:r>
          </a:p>
        </p:txBody>
      </p:sp>
      <p:sp>
        <p:nvSpPr>
          <p:cNvPr id="13" name="Oval 12"/>
          <p:cNvSpPr/>
          <p:nvPr/>
        </p:nvSpPr>
        <p:spPr>
          <a:xfrm>
            <a:off x="2680655" y="3040380"/>
            <a:ext cx="502920" cy="502920"/>
          </a:xfrm>
          <a:prstGeom prst="ellipse">
            <a:avLst/>
          </a:prstGeom>
          <a:solidFill>
            <a:srgbClr val="22C55E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80655" y="304038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7715" y="37490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Segoe UI"/>
              </a:rPr>
              <a:t>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7715" y="4160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22C55E"/>
                </a:solidFill>
                <a:latin typeface="Segoe UI"/>
              </a:rPr>
              <a:t>Anchor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7715" y="23774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Step 2</a:t>
            </a:r>
          </a:p>
        </p:txBody>
      </p:sp>
      <p:sp>
        <p:nvSpPr>
          <p:cNvPr id="18" name="Oval 17"/>
          <p:cNvSpPr/>
          <p:nvPr/>
        </p:nvSpPr>
        <p:spPr>
          <a:xfrm>
            <a:off x="4789810" y="3040380"/>
            <a:ext cx="502920" cy="502920"/>
          </a:xfrm>
          <a:prstGeom prst="ellipse">
            <a:avLst/>
          </a:prstGeom>
          <a:solidFill>
            <a:srgbClr val="F59E0B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89810" y="304038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26870" y="37490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Segoe UI"/>
              </a:rPr>
              <a:t>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26870" y="4160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F59E0B"/>
                </a:solidFill>
                <a:latin typeface="Segoe UI"/>
              </a:rPr>
              <a:t>Build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26870" y="23774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Step 3</a:t>
            </a:r>
          </a:p>
        </p:txBody>
      </p:sp>
      <p:sp>
        <p:nvSpPr>
          <p:cNvPr id="23" name="Oval 22"/>
          <p:cNvSpPr/>
          <p:nvPr/>
        </p:nvSpPr>
        <p:spPr>
          <a:xfrm>
            <a:off x="6898965" y="3040380"/>
            <a:ext cx="502920" cy="502920"/>
          </a:xfrm>
          <a:prstGeom prst="ellipse">
            <a:avLst/>
          </a:prstGeom>
          <a:solidFill>
            <a:srgbClr val="F43F5E"/>
          </a:solidFill>
          <a:ln w="952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98965" y="304038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Segoe U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025" y="37490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Segoe UI"/>
              </a:rPr>
              <a:t>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6025" y="4160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F43F5E"/>
                </a:solidFill>
                <a:latin typeface="Segoe UI"/>
              </a:rPr>
              <a:t>Settle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6025" y="23774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Step 4</a:t>
            </a:r>
          </a:p>
        </p:txBody>
      </p:sp>
      <p:sp>
        <p:nvSpPr>
          <p:cNvPr id="28" name="Oval 27"/>
          <p:cNvSpPr/>
          <p:nvPr/>
        </p:nvSpPr>
        <p:spPr>
          <a:xfrm>
            <a:off x="9008120" y="3040380"/>
            <a:ext cx="502920" cy="502920"/>
          </a:xfrm>
          <a:prstGeom prst="ellipse">
            <a:avLst/>
          </a:prstGeom>
          <a:solidFill>
            <a:srgbClr val="0EA5E9"/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08120" y="304038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Segoe U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5180" y="37490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Segoe UI"/>
              </a:rPr>
              <a:t>Capture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5180" y="4160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0EA5E9"/>
                </a:solidFill>
                <a:latin typeface="Segoe UI"/>
              </a:rPr>
              <a:t>Compound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5180" y="23774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Step 5</a:t>
            </a:r>
          </a:p>
        </p:txBody>
      </p:sp>
      <p:sp>
        <p:nvSpPr>
          <p:cNvPr id="33" name="Oval 32"/>
          <p:cNvSpPr/>
          <p:nvPr/>
        </p:nvSpPr>
        <p:spPr>
          <a:xfrm>
            <a:off x="11117275" y="3040380"/>
            <a:ext cx="502920" cy="502920"/>
          </a:xfrm>
          <a:prstGeom prst="ellipse">
            <a:avLst/>
          </a:prstGeom>
          <a:solidFill>
            <a:srgbClr val="22C55E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117275" y="304038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Segoe U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54335" y="37490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Segoe UI"/>
              </a:rPr>
              <a:t>Done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54335" y="4160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22C55E"/>
                </a:solidFill>
                <a:latin typeface="Segoe UI"/>
              </a:rPr>
              <a:t>Ship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54335" y="23774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Step 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30352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Segoe UI"/>
              </a:rPr>
              <a:t>Evidence: execution plans, progress logs, review artifacts -- all repo-local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76072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0EA5E9"/>
                </a:solidFill>
                <a:latin typeface="Segoe UI"/>
              </a:rPr>
              <a:t>Survives context loss. Resumable by any agent. Auditable forever.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07 / 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AgentX  -  Digital Force for Software Delivery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0EA5E9"/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Segoe UI"/>
              </a:rPr>
              <a:t>SKILLS LIBRARY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Segoe UI"/>
              </a:rPr>
              <a:t>Retrieval over recall  -  94 skills, 12 categories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10607040" cy="9525"/>
          </a:xfrm>
          <a:prstGeom prst="rect">
            <a:avLst/>
          </a:prstGeom>
          <a:solidFill>
            <a:srgbClr val="334E7A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447" y="1920240"/>
            <a:ext cx="2606040" cy="182880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447" y="1920240"/>
            <a:ext cx="73152" cy="1828800"/>
          </a:xfrm>
          <a:prstGeom prst="rect">
            <a:avLst/>
          </a:prstGeom>
          <a:solidFill>
            <a:srgbClr val="0EA5E9"/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047" y="2057400"/>
            <a:ext cx="2240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Segoe UI"/>
              </a:rPr>
              <a:t>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8247" y="2011680"/>
            <a:ext cx="640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2200" b="1">
                <a:solidFill>
                  <a:srgbClr val="0EA5E9"/>
                </a:solidFill>
                <a:latin typeface="Segoe U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047" y="2606040"/>
            <a:ext cx="22402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api-design, security,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database, performance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8367" y="1920240"/>
            <a:ext cx="2606040" cy="182880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98367" y="1920240"/>
            <a:ext cx="73152" cy="1828800"/>
          </a:xfrm>
          <a:prstGeom prst="rect">
            <a:avLst/>
          </a:prstGeom>
          <a:solidFill>
            <a:srgbClr val="22C55E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6967" y="2057400"/>
            <a:ext cx="2240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Segoe UI"/>
              </a:rPr>
              <a:t>AI Systems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27167" y="2011680"/>
            <a:ext cx="640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2200" b="1">
                <a:solidFill>
                  <a:srgbClr val="22C55E"/>
                </a:solidFill>
                <a:latin typeface="Segoe UI"/>
              </a:rPr>
              <a:t>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6967" y="2606040"/>
            <a:ext cx="22402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langgraph, foundry-sdk,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rag, evaluation, safety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7287" y="1920240"/>
            <a:ext cx="2606040" cy="182880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7287" y="1920240"/>
            <a:ext cx="73152" cy="1828800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5887" y="2057400"/>
            <a:ext cx="2240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Segoe UI"/>
              </a:rPr>
              <a:t>Development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6087" y="2011680"/>
            <a:ext cx="640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2200" b="1">
                <a:solidFill>
                  <a:srgbClr val="F59E0B"/>
                </a:solidFill>
                <a:latin typeface="Segoe UI"/>
              </a:rPr>
              <a:t>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5887" y="2606040"/>
            <a:ext cx="22402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testing, error-handling,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iterative-loop, scrub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76207" y="1920240"/>
            <a:ext cx="2606040" cy="182880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76207" y="1920240"/>
            <a:ext cx="73152" cy="1828800"/>
          </a:xfrm>
          <a:prstGeom prst="rect">
            <a:avLst/>
          </a:prstGeom>
          <a:solidFill>
            <a:srgbClr val="F43F5E"/>
          </a:solidFill>
          <a:ln w="952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04807" y="2057400"/>
            <a:ext cx="2240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Segoe UI"/>
              </a:rPr>
              <a:t>Languages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05007" y="2011680"/>
            <a:ext cx="640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2200" b="1">
                <a:solidFill>
                  <a:srgbClr val="F43F5E"/>
                </a:solidFill>
                <a:latin typeface="Segoe UI"/>
              </a:rP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4807" y="2606040"/>
            <a:ext cx="22402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C#, Python, TS, React,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C, C++, Rust, Go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9447" y="3931920"/>
            <a:ext cx="2606040" cy="182880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9447" y="3931920"/>
            <a:ext cx="73152" cy="1828800"/>
          </a:xfrm>
          <a:prstGeom prst="rect">
            <a:avLst/>
          </a:prstGeom>
          <a:solidFill>
            <a:srgbClr val="0EA5E9"/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8047" y="4069080"/>
            <a:ext cx="2240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Segoe UI"/>
              </a:rPr>
              <a:t>Ops &amp; Infra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38247" y="4023360"/>
            <a:ext cx="640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2200" b="1">
                <a:solidFill>
                  <a:srgbClr val="0EA5E9"/>
                </a:solidFill>
                <a:latin typeface="Segoe UI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047" y="4617720"/>
            <a:ext cx="22402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GitHub Actions, Terraform,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Azure, containers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98367" y="3931920"/>
            <a:ext cx="2606040" cy="182880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98367" y="3931920"/>
            <a:ext cx="73152" cy="1828800"/>
          </a:xfrm>
          <a:prstGeom prst="rect">
            <a:avLst/>
          </a:prstGeom>
          <a:solidFill>
            <a:srgbClr val="22C55E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26967" y="4069080"/>
            <a:ext cx="2240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Segoe UI"/>
              </a:rPr>
              <a:t>Data &amp; Test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27167" y="4023360"/>
            <a:ext cx="640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2200" b="1">
                <a:solidFill>
                  <a:srgbClr val="22C55E"/>
                </a:solidFill>
                <a:latin typeface="Segoe UI"/>
              </a:rPr>
              <a:t>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26967" y="4617720"/>
            <a:ext cx="22402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Databricks, Fabric,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e2e, performance, security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87287" y="3931920"/>
            <a:ext cx="2606040" cy="182880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87287" y="3931920"/>
            <a:ext cx="73152" cy="1828800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15887" y="4069080"/>
            <a:ext cx="2240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Segoe UI"/>
              </a:rPr>
              <a:t>Design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16087" y="4023360"/>
            <a:ext cx="640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2200" b="1">
                <a:solidFill>
                  <a:srgbClr val="F59E0B"/>
                </a:solidFill>
                <a:latin typeface="Segoe UI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15887" y="4617720"/>
            <a:ext cx="22402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design-system, ux-ui,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prototype-craft, frontend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76207" y="3931920"/>
            <a:ext cx="2606040" cy="182880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976207" y="3931920"/>
            <a:ext cx="73152" cy="1828800"/>
          </a:xfrm>
          <a:prstGeom prst="rect">
            <a:avLst/>
          </a:prstGeom>
          <a:solidFill>
            <a:srgbClr val="F43F5E"/>
          </a:solidFill>
          <a:ln w="952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04807" y="4069080"/>
            <a:ext cx="2240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Segoe UI"/>
              </a:rPr>
              <a:t>Domain &amp; PRD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05007" y="4023360"/>
            <a:ext cx="640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2200" b="1">
                <a:solidFill>
                  <a:srgbClr val="F43F5E"/>
                </a:solidFill>
                <a:latin typeface="Segoe UI"/>
              </a:rPr>
              <a:t>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04807" y="4617720"/>
            <a:ext cx="22402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finance, legal, oil&amp;gas,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tax, prd, diagrams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608076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0EA5E9"/>
                </a:solidFill>
                <a:latin typeface="Segoe UI"/>
              </a:rPr>
              <a:t>Max 3-4 skills per task (~20K tokens). Agents read, not guess.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08 / 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AgentX  -  Digital Force for Software Delivery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0EA5E9"/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Segoe UI"/>
              </a:rPr>
              <a:t>PLUGINS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Segoe UI"/>
              </a:rPr>
              <a:t>Markdown stays the source of truth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10607040" cy="9525"/>
          </a:xfrm>
          <a:prstGeom prst="rect">
            <a:avLst/>
          </a:prstGeom>
          <a:solidFill>
            <a:srgbClr val="334E7A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907127" y="3200400"/>
            <a:ext cx="2377440" cy="1097280"/>
          </a:xfrm>
          <a:prstGeom prst="roundRect">
            <a:avLst/>
          </a:prstGeom>
          <a:solidFill>
            <a:srgbClr val="0EA5E9"/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07127" y="3200400"/>
            <a:ext cx="237744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400" b="1">
                <a:solidFill>
                  <a:srgbClr val="0B1F3A"/>
                </a:solidFill>
                <a:latin typeface="Segoe UI"/>
              </a:rPr>
              <a:t>.md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2377440"/>
            <a:ext cx="2286000" cy="91440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0" y="2468880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2C55E"/>
                </a:solidFill>
                <a:latin typeface="Segoe UI"/>
              </a:rPr>
              <a:t>convert-docs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2834640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Segoe UI"/>
              </a:rPr>
              <a:t>-&gt; .docx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376007" y="2743200"/>
            <a:ext cx="1310792" cy="182880"/>
          </a:xfrm>
          <a:prstGeom prst="rightArrow">
            <a:avLst/>
          </a:prstGeom>
          <a:solidFill>
            <a:srgbClr val="22C55E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778240" y="3657600"/>
            <a:ext cx="2286000" cy="91440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3749040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2C55E"/>
                </a:solidFill>
                <a:latin typeface="Segoe UI"/>
              </a:rPr>
              <a:t>convert-slides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4114800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Segoe UI"/>
              </a:rPr>
              <a:t>-&gt; .pptx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376007" y="4023360"/>
            <a:ext cx="1310792" cy="182880"/>
          </a:xfrm>
          <a:prstGeom prst="rightArrow">
            <a:avLst/>
          </a:prstGeom>
          <a:solidFill>
            <a:srgbClr val="22C55E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97280" y="2194560"/>
            <a:ext cx="2286000" cy="77724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2240280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Segoe UI"/>
              </a:rPr>
              <a:t>read-docs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2606040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Segoe UI"/>
              </a:rPr>
              <a:t>Word/RTF/HTML -&gt;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474720" y="2491740"/>
            <a:ext cx="1340967" cy="182880"/>
          </a:xfrm>
          <a:prstGeom prst="rightArrow">
            <a:avLst/>
          </a:prstGeom>
          <a:solidFill>
            <a:srgbClr val="F59E0B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97280" y="3200400"/>
            <a:ext cx="2286000" cy="77724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3246120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Segoe UI"/>
              </a:rPr>
              <a:t>read-slides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611880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Segoe UI"/>
              </a:rPr>
              <a:t>PowerPoint -&gt;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474720" y="3497580"/>
            <a:ext cx="1340967" cy="182880"/>
          </a:xfrm>
          <a:prstGeom prst="rightArrow">
            <a:avLst/>
          </a:prstGeom>
          <a:solidFill>
            <a:srgbClr val="F59E0B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97280" y="4206240"/>
            <a:ext cx="2286000" cy="77724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80160" y="4251960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Segoe UI"/>
              </a:rPr>
              <a:t>read-pdf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617720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Segoe UI"/>
              </a:rPr>
              <a:t>PDF + page anchors -&gt;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3474720" y="4503420"/>
            <a:ext cx="1340967" cy="182880"/>
          </a:xfrm>
          <a:prstGeom prst="rightArrow">
            <a:avLst/>
          </a:prstGeom>
          <a:solidFill>
            <a:srgbClr val="F59E0B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603504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Segoe UI"/>
              </a:rPr>
              <a:t>Zero-install. Plugins shell out to Pandoc / Python on PATH only when used.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09 / 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AgentX  -  Digital Force for Software Delivery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0EA5E9"/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Segoe UI"/>
              </a:rPr>
              <a:t>WHY AGENTX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Segoe UI"/>
              </a:rPr>
              <a:t>What changes when you adopt the harness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10607040" cy="9525"/>
          </a:xfrm>
          <a:prstGeom prst="rect">
            <a:avLst/>
          </a:prstGeom>
          <a:solidFill>
            <a:srgbClr val="334E7A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5212080" cy="594360"/>
          </a:xfrm>
          <a:prstGeom prst="roundRect">
            <a:avLst/>
          </a:prstGeom>
          <a:solidFill>
            <a:srgbClr val="F43F5E"/>
          </a:solidFill>
          <a:ln w="952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63640" y="1920240"/>
            <a:ext cx="5212080" cy="594360"/>
          </a:xfrm>
          <a:prstGeom prst="roundRect">
            <a:avLst/>
          </a:prstGeom>
          <a:solidFill>
            <a:srgbClr val="22C55E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521208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Segoe UI"/>
              </a:rPr>
              <a:t>Without AgentX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920240"/>
            <a:ext cx="521208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Segoe UI"/>
              </a:rPr>
              <a:t>With AgentX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560320"/>
            <a:ext cx="5212080" cy="59436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2560320"/>
            <a:ext cx="5212080" cy="59436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0120" y="2724912"/>
            <a:ext cx="274320" cy="274320"/>
          </a:xfrm>
          <a:prstGeom prst="ellipse">
            <a:avLst/>
          </a:prstGeom>
          <a:solidFill>
            <a:srgbClr val="F43F5E"/>
          </a:solidFill>
          <a:ln w="952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24912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Segoe UI"/>
              </a:rPr>
              <a:t>x</a:t>
            </a:r>
          </a:p>
        </p:txBody>
      </p:sp>
      <p:sp>
        <p:nvSpPr>
          <p:cNvPr id="15" name="Oval 14"/>
          <p:cNvSpPr/>
          <p:nvPr/>
        </p:nvSpPr>
        <p:spPr>
          <a:xfrm>
            <a:off x="6446520" y="2724912"/>
            <a:ext cx="274320" cy="274320"/>
          </a:xfrm>
          <a:prstGeom prst="ellipse">
            <a:avLst/>
          </a:prstGeom>
          <a:solidFill>
            <a:srgbClr val="22C55E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724912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Segoe UI"/>
              </a:rPr>
              <a:t>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560320"/>
            <a:ext cx="45720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Segoe UI"/>
              </a:rPr>
              <a:t>Ship AI slop, clean it up later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560320"/>
            <a:ext cx="45720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Segoe UI"/>
              </a:rPr>
              <a:t>Reviewed, tested, traceable on day 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200400"/>
            <a:ext cx="5212080" cy="59436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63640" y="3200400"/>
            <a:ext cx="5212080" cy="59436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0120" y="3364992"/>
            <a:ext cx="274320" cy="274320"/>
          </a:xfrm>
          <a:prstGeom prst="ellipse">
            <a:avLst/>
          </a:prstGeom>
          <a:solidFill>
            <a:srgbClr val="F43F5E"/>
          </a:solidFill>
          <a:ln w="952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364992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Segoe UI"/>
              </a:rPr>
              <a:t>x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3364992"/>
            <a:ext cx="274320" cy="274320"/>
          </a:xfrm>
          <a:prstGeom prst="ellipse">
            <a:avLst/>
          </a:prstGeom>
          <a:solidFill>
            <a:srgbClr val="22C55E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364992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Segoe UI"/>
              </a:rPr>
              <a:t>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200400"/>
            <a:ext cx="45720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Segoe UI"/>
              </a:rPr>
              <a:t>Single-model blind spots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200400"/>
            <a:ext cx="45720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Segoe UI"/>
              </a:rPr>
              <a:t>Three-model Council debates each call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840480"/>
            <a:ext cx="5212080" cy="59436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63640" y="3840480"/>
            <a:ext cx="5212080" cy="59436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0120" y="4005072"/>
            <a:ext cx="274320" cy="274320"/>
          </a:xfrm>
          <a:prstGeom prst="ellipse">
            <a:avLst/>
          </a:prstGeom>
          <a:solidFill>
            <a:srgbClr val="F43F5E"/>
          </a:solidFill>
          <a:ln w="952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4005072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Segoe UI"/>
              </a:rPr>
              <a:t>x</a:t>
            </a:r>
          </a:p>
        </p:txBody>
      </p:sp>
      <p:sp>
        <p:nvSpPr>
          <p:cNvPr id="31" name="Oval 30"/>
          <p:cNvSpPr/>
          <p:nvPr/>
        </p:nvSpPr>
        <p:spPr>
          <a:xfrm>
            <a:off x="6446520" y="4005072"/>
            <a:ext cx="274320" cy="274320"/>
          </a:xfrm>
          <a:prstGeom prst="ellipse">
            <a:avLst/>
          </a:prstGeom>
          <a:solidFill>
            <a:srgbClr val="22C55E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4005072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Segoe UI"/>
              </a:rPr>
              <a:t>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3840480"/>
            <a:ext cx="45720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Segoe UI"/>
              </a:rPr>
              <a:t>Decisions evaporate after the chat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840480"/>
            <a:ext cx="45720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Segoe UI"/>
              </a:rPr>
              <a:t>Plans, learnings, conventions in repo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4480560"/>
            <a:ext cx="5212080" cy="59436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63640" y="4480560"/>
            <a:ext cx="5212080" cy="59436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60120" y="4645152"/>
            <a:ext cx="274320" cy="274320"/>
          </a:xfrm>
          <a:prstGeom prst="ellipse">
            <a:avLst/>
          </a:prstGeom>
          <a:solidFill>
            <a:srgbClr val="F43F5E"/>
          </a:solidFill>
          <a:ln w="952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4645152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Segoe UI"/>
              </a:rPr>
              <a:t>x</a:t>
            </a:r>
          </a:p>
        </p:txBody>
      </p:sp>
      <p:sp>
        <p:nvSpPr>
          <p:cNvPr id="39" name="Oval 38"/>
          <p:cNvSpPr/>
          <p:nvPr/>
        </p:nvSpPr>
        <p:spPr>
          <a:xfrm>
            <a:off x="6446520" y="4645152"/>
            <a:ext cx="274320" cy="274320"/>
          </a:xfrm>
          <a:prstGeom prst="ellipse">
            <a:avLst/>
          </a:prstGeom>
          <a:solidFill>
            <a:srgbClr val="22C55E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4645152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Segoe UI"/>
              </a:rPr>
              <a:t>v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4480560"/>
            <a:ext cx="45720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Segoe UI"/>
              </a:rPr>
              <a:t>Each engineer prompts differently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4480560"/>
            <a:ext cx="45720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Segoe UI"/>
              </a:rPr>
              <a:t>21 agents with strict role contracts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" y="5120640"/>
            <a:ext cx="5212080" cy="59436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263640" y="5120640"/>
            <a:ext cx="5212080" cy="594360"/>
          </a:xfrm>
          <a:prstGeom prst="roundRect">
            <a:avLst/>
          </a:prstGeom>
          <a:solidFill>
            <a:srgbClr val="102A4F"/>
          </a:solidFill>
          <a:ln w="9525">
            <a:solidFill>
              <a:srgbClr val="33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60120" y="5285232"/>
            <a:ext cx="274320" cy="274320"/>
          </a:xfrm>
          <a:prstGeom prst="ellipse">
            <a:avLst/>
          </a:prstGeom>
          <a:solidFill>
            <a:srgbClr val="F43F5E"/>
          </a:solidFill>
          <a:ln w="952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0120" y="5285232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Segoe UI"/>
              </a:rPr>
              <a:t>x</a:t>
            </a:r>
          </a:p>
        </p:txBody>
      </p:sp>
      <p:sp>
        <p:nvSpPr>
          <p:cNvPr id="47" name="Oval 46"/>
          <p:cNvSpPr/>
          <p:nvPr/>
        </p:nvSpPr>
        <p:spPr>
          <a:xfrm>
            <a:off x="6446520" y="5285232"/>
            <a:ext cx="274320" cy="274320"/>
          </a:xfrm>
          <a:prstGeom prst="ellipse">
            <a:avLst/>
          </a:prstGeom>
          <a:solidFill>
            <a:srgbClr val="22C55E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20" y="5285232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Segoe UI"/>
              </a:rPr>
              <a:t>v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71600" y="5120640"/>
            <a:ext cx="45720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Segoe UI"/>
              </a:rPr>
              <a:t>Quality depends on the prompter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5120640"/>
            <a:ext cx="45720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Segoe UI"/>
              </a:rPr>
              <a:t>Loop + 80% coverage + 5-iter gate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10 / 11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AgentX  -  Digital Force for Software Delivery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EA5E9"/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EA5E9"/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EA5E9"/>
                </a:solidFill>
                <a:latin typeface="Segoe UI"/>
              </a:rPr>
              <a:t>GET STARTED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0704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>
                <a:solidFill>
                  <a:srgbClr val="F8FAFC"/>
                </a:solidFill>
                <a:latin typeface="Segoe UI"/>
              </a:rPr>
              <a:t>Five minutes to your first reviewed feature.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291840"/>
            <a:ext cx="10607040" cy="1188720"/>
          </a:xfrm>
          <a:prstGeom prst="roundRect">
            <a:avLst/>
          </a:prstGeom>
          <a:solidFill>
            <a:srgbClr val="102A4F"/>
          </a:solidFill>
          <a:ln w="1905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3832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Segoe UI"/>
              </a:rPr>
              <a:t>PowerShell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2412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2C55E"/>
                </a:solidFill>
                <a:latin typeface="Cascadia Mono"/>
              </a:rPr>
              <a:t>irm https://raw.githubusercontent.com/jnPiyush/AgentX/v8.4.47/install.ps1 | iex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75488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or install the AgentX VS Code extension and run: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1206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EA5E9"/>
                </a:solidFill>
                <a:latin typeface="Cascadia Mono"/>
              </a:rPr>
              <a:t>AgentX: Initialize Local Runtime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github.com/jnPiyush/AgentX  -  Apache 2.0  -  Open source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